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 발표는 대한민국이 100% 독자 기술로 개발한 한국형발사체 '누리호'의 개발 역사와 주요 발사 성과, 그리고 뉴스페이스 시대의 전망을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누리호는 길이 47.2m, 중량 200톤 규모의 3단형 액체 로켓입니다. 1단에 75톤급 엔진 4기를 클러스터링하여 300톤의 추력을 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나로호의 두 차례 실패와 누리호 1차 발사 시 3단 엔진 조기 종료 등 수많은 시행착오가 있었으나, 원인을 철저히 규명하고 수정하며 기술 자립을 이루었습니다.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73152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대한민국 독자 우주수송의 열쇠, 누리호(KSLV-II)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B8C4DE"/>
                </a:solidFill>
                <a:latin typeface="맑은 고딕"/>
              </a:rPr>
              <a:t>나로호 실패 극복부터 5차 발사 성공과 뉴스페이스 시대 개막까지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8C4DE"/>
                </a:solidFill>
                <a:latin typeface="맑은 고딕"/>
              </a:rPr>
              <a:t>2026-10  ·  우송4반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누리호 개요 및 핵심 제원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FB3FF"/>
                </a:solidFill>
                <a:latin typeface="맑은 고딕"/>
              </a:rPr>
              <a:t>100% 국내 독자 기술로 완성한 3단형 액체 로켓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4DE"/>
                </a:solidFill>
                <a:latin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8A3D"/>
                </a:solidFill>
                <a:latin typeface="맑은 고딕"/>
              </a:rPr>
              <a:t>기본 정보 및 위상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 정식 명칭: 한국형발사체 KSLV-II (애칭 누리호)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 개발 주도: 한국항공우주연구원(항우연) / 2010년 3월 착수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 발사장: 전남 고흥 나로우주센터 (2009년 6월 개장)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 우주 강국 위상: 1톤 이상 실용위성을 자체 발사체로 쏘아 올린 세계 7번째 국가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8A3D"/>
                </a:solidFill>
                <a:latin typeface="맑은 고딕"/>
              </a:rPr>
              <a:t>로켓 구조 및 성능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 크기/무게: 길이 47.2m / 직경 3.5m / 중량 약 200톤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 1단: 75톤급 액체엔진 4기 클러스터링 (총 추력 약 300톤)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 2단 &amp; 3단: 2단 75톤급 1기 / 3단 7톤급 1기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</a:rPr>
              <a:t>•  수송 능력: 1.5톤급 실용위성을 지구 저궤도(600~800km)에 투입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시련을 넘어선 독자 개발 잔혹사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FB3FF"/>
                </a:solidFill>
                <a:latin typeface="맑은 고딕"/>
              </a:rPr>
              <a:t>실패를 자산으로 삼아 달성한 로켓 독립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4DE"/>
                </a:solidFill>
                <a:latin typeface="맑은 고딕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11064240" cy="54864"/>
          </a:xfrm>
          <a:prstGeom prst="rect">
            <a:avLst/>
          </a:prstGeom>
          <a:solidFill>
            <a:srgbClr val="4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27048" y="3648455"/>
            <a:ext cx="256032" cy="25603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39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8A3D"/>
                </a:solidFill>
                <a:latin typeface="맑은 고딕"/>
              </a:rPr>
              <a:t>1993-2002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212848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KSR-I·II 과학관측로켓 발사 및 한·러 협력 나로호(KSLV-I) 개발 확정</a:t>
            </a:r>
          </a:p>
        </p:txBody>
      </p:sp>
      <p:sp>
        <p:nvSpPr>
          <p:cNvPr id="10" name="Oval 9"/>
          <p:cNvSpPr/>
          <p:nvPr/>
        </p:nvSpPr>
        <p:spPr>
          <a:xfrm>
            <a:off x="3739896" y="3648455"/>
            <a:ext cx="256032" cy="25603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4023359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8A3D"/>
                </a:solidFill>
                <a:latin typeface="맑은 고딕"/>
              </a:rPr>
              <a:t>2009-2010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4480559"/>
            <a:ext cx="221284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나로우주센터 개장, 나로호 1·2차 발사 실패 후 누리호 독자 개발 착수(2010.03)</a:t>
            </a:r>
          </a:p>
        </p:txBody>
      </p:sp>
      <p:sp>
        <p:nvSpPr>
          <p:cNvPr id="13" name="Oval 12"/>
          <p:cNvSpPr/>
          <p:nvPr/>
        </p:nvSpPr>
        <p:spPr>
          <a:xfrm>
            <a:off x="5952744" y="3648455"/>
            <a:ext cx="256032" cy="25603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3063239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8A3D"/>
                </a:solidFill>
                <a:latin typeface="맑은 고딕"/>
              </a:rPr>
              <a:t>2013.01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1645920"/>
            <a:ext cx="2212848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나로호 3차 발사 성공 (1단은 러시아제 엔진 사용)</a:t>
            </a:r>
          </a:p>
        </p:txBody>
      </p:sp>
      <p:sp>
        <p:nvSpPr>
          <p:cNvPr id="16" name="Oval 15"/>
          <p:cNvSpPr/>
          <p:nvPr/>
        </p:nvSpPr>
        <p:spPr>
          <a:xfrm>
            <a:off x="8165592" y="3648455"/>
            <a:ext cx="256032" cy="25603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7184" y="4023359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8A3D"/>
                </a:solidFill>
                <a:latin typeface="맑은 고딕"/>
              </a:rPr>
              <a:t>2014-2018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4" y="4480559"/>
            <a:ext cx="221284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7톤 및 75톤급 독자 엔진 개발 완료, 2018년 시험발사체 발사 성공</a:t>
            </a:r>
          </a:p>
        </p:txBody>
      </p:sp>
      <p:sp>
        <p:nvSpPr>
          <p:cNvPr id="19" name="Oval 18"/>
          <p:cNvSpPr/>
          <p:nvPr/>
        </p:nvSpPr>
        <p:spPr>
          <a:xfrm>
            <a:off x="10378440" y="3648455"/>
            <a:ext cx="256032" cy="25603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3063239"/>
            <a:ext cx="22128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8A3D"/>
                </a:solidFill>
                <a:latin typeface="맑은 고딕"/>
              </a:rPr>
              <a:t>2021.10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1645920"/>
            <a:ext cx="2212848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</a:rPr>
              <a:t>누리호 1차 발사 - 700km 도달했으나 3단 엔진 조기 종료로 위성모사체 궤도 진입 실패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1차~4차 발사 주요 성과 및 발전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FB3FF"/>
                </a:solidFill>
                <a:latin typeface="맑은 고딕"/>
              </a:rPr>
              <a:t>검증단계에서 첫 실전 발사 및 야간 발사 성공까지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4DE"/>
                </a:solidFill>
                <a:latin typeface="맑은 고딕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3566160"/>
                <a:gridCol w="4572000"/>
              </a:tblGrid>
              <a:tr h="87782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차수</a:t>
                      </a:r>
                    </a:p>
                  </a:txBody>
                  <a:tcPr anchor="ctr">
                    <a:solidFill>
                      <a:srgbClr val="FF8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발사일 / 결과</a:t>
                      </a:r>
                    </a:p>
                  </a:txBody>
                  <a:tcPr anchor="ctr">
                    <a:solidFill>
                      <a:srgbClr val="FF8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탑재체</a:t>
                      </a:r>
                    </a:p>
                  </a:txBody>
                  <a:tcPr anchor="ctr">
                    <a:solidFill>
                      <a:srgbClr val="FF8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의의</a:t>
                      </a:r>
                    </a:p>
                  </a:txBody>
                  <a:tcPr anchor="ctr">
                    <a:solidFill>
                      <a:srgbClr val="FF8A3D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1차</a:t>
                      </a:r>
                    </a:p>
                  </a:txBody>
                  <a:tcPr anchor="ctr">
                    <a:solidFill>
                      <a:srgbClr val="16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2021.10.21</a:t>
                      </a:r>
                    </a:p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부분 성공</a:t>
                      </a:r>
                    </a:p>
                  </a:txBody>
                  <a:tcPr anchor="ctr">
                    <a:solidFill>
                      <a:srgbClr val="16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위성모사체 (1.5톤)</a:t>
                      </a:r>
                    </a:p>
                  </a:txBody>
                  <a:tcPr anchor="ctr">
                    <a:solidFill>
                      <a:srgbClr val="16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목표 고도 700km 도달, 3단 헬륨탱크 문제로 궤도 투입 실패</a:t>
                      </a:r>
                    </a:p>
                  </a:txBody>
                  <a:tcPr anchor="ctr">
                    <a:solidFill>
                      <a:srgbClr val="16234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2차</a:t>
                      </a:r>
                    </a:p>
                  </a:txBody>
                  <a:tcPr anchor="ctr">
                    <a:solidFill>
                      <a:srgbClr val="1E2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2022.06.21</a:t>
                      </a:r>
                    </a:p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성공</a:t>
                      </a:r>
                    </a:p>
                  </a:txBody>
                  <a:tcPr anchor="ctr">
                    <a:solidFill>
                      <a:srgbClr val="1E2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성능검증위성 + 위성모사체</a:t>
                      </a:r>
                    </a:p>
                  </a:txBody>
                  <a:tcPr anchor="ctr">
                    <a:solidFill>
                      <a:srgbClr val="1E2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700km 궤도 투입 성공, 세계 7번째 실용위성 자력 발사국 입성</a:t>
                      </a:r>
                    </a:p>
                  </a:txBody>
                  <a:tcPr anchor="ctr">
                    <a:solidFill>
                      <a:srgbClr val="1E2E5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3차</a:t>
                      </a:r>
                    </a:p>
                  </a:txBody>
                  <a:tcPr anchor="ctr">
                    <a:solidFill>
                      <a:srgbClr val="16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2023.05.25</a:t>
                      </a:r>
                    </a:p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성공</a:t>
                      </a:r>
                    </a:p>
                  </a:txBody>
                  <a:tcPr anchor="ctr">
                    <a:solidFill>
                      <a:srgbClr val="16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차세대소형위성 2호 등 8기</a:t>
                      </a:r>
                    </a:p>
                  </a:txBody>
                  <a:tcPr anchor="ctr">
                    <a:solidFill>
                      <a:srgbClr val="1623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첫 실전 발사, 목표 고도 550km에 탑재위성 정상 투입</a:t>
                      </a:r>
                    </a:p>
                  </a:txBody>
                  <a:tcPr anchor="ctr">
                    <a:solidFill>
                      <a:srgbClr val="16234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4차</a:t>
                      </a:r>
                    </a:p>
                  </a:txBody>
                  <a:tcPr anchor="ctr">
                    <a:solidFill>
                      <a:srgbClr val="1E2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2025.11.27</a:t>
                      </a:r>
                    </a:p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성공</a:t>
                      </a:r>
                    </a:p>
                  </a:txBody>
                  <a:tcPr anchor="ctr">
                    <a:solidFill>
                      <a:srgbClr val="1E2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차세대중형위성 3호 + 큐브위성 12기 (총 13기, 약 960kg)</a:t>
                      </a:r>
                    </a:p>
                  </a:txBody>
                  <a:tcPr anchor="ctr">
                    <a:solidFill>
                      <a:srgbClr val="1E2E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맑은 고딕"/>
                        </a:rPr>
                        <a:t>첫 야간 발사, 한화에어로스페이스 주도 첫 제작, 우주 바이오 실험 포함</a:t>
                      </a:r>
                    </a:p>
                  </a:txBody>
                  <a:tcPr anchor="ctr">
                    <a:solidFill>
                      <a:srgbClr val="1E2E5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최신 5차 발사 집중 분석 (2026.10.07)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FB3FF"/>
                </a:solidFill>
                <a:latin typeface="맑은 고딕"/>
              </a:rPr>
              <a:t>역대 최다 15기 탑재 및 '군집위성 시대' 개막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4DE"/>
                </a:solidFill>
                <a:latin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C4DE"/>
                </a:solidFill>
                <a:latin typeface="맑은 고딕"/>
              </a:rPr>
              <a:t>발사 성공률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누적 80% (5회 중 4회 성공)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540" y="164592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540" y="182880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C4DE"/>
                </a:solidFill>
                <a:latin typeface="맑은 고딕"/>
              </a:rPr>
              <a:t>탑재 위성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22860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역대 최다 15기 (14기 궤도 진입)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4592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82880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C4DE"/>
                </a:solidFill>
                <a:latin typeface="맑은 고딕"/>
              </a:rPr>
              <a:t>주탑재 군집위성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네온샛 2~6호 5기 전원 성공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발사 시각 및 고도: 2026년 10월 7일 12시 25분, 목표 고도 약 570km 도달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교신 성과: 남극 세종기지 및 대전·제주·스발바르 지상국 교신 성공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군집위성(네온샛): 총 11기 체계 중 2~6호 투입으로 한반도 고빈도 관측 기반 마련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올드스페이스에서 뉴스페이스로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FB3FF"/>
                </a:solidFill>
                <a:latin typeface="맑은 고딕"/>
              </a:rPr>
              <a:t>정부·연구소 주도에서 민간 주도 우주 산업으로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4DE"/>
                </a:solidFill>
                <a:latin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514600" cy="256032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1. 체계종합기업 선정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240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2022년 한화에어로스페이스 체계종합기업 선정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3720" y="3108960"/>
            <a:ext cx="274320" cy="365760"/>
          </a:xfrm>
          <a:prstGeom prst="rightArrow">
            <a:avLst/>
          </a:prstGeom>
          <a:solidFill>
            <a:srgbClr val="4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8520" y="2011680"/>
            <a:ext cx="2514600" cy="256032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98520" y="20116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8520" y="20116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2. 기술 이전 계약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680" y="3017520"/>
            <a:ext cx="2240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2025년 7월 항우연 기술이전 (2032년까지 통상실시권 확보)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3600" y="3108960"/>
            <a:ext cx="274320" cy="365760"/>
          </a:xfrm>
          <a:prstGeom prst="rightArrow">
            <a:avLst/>
          </a:prstGeom>
          <a:solidFill>
            <a:srgbClr val="4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400" y="2011680"/>
            <a:ext cx="2514600" cy="256032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400" y="20116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0" y="20116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3. 제작 및 발사 주도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5560" y="3017520"/>
            <a:ext cx="2240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4차 발사 제작 주도 → 5차 관제 참여 확대 → 6차 대부분 업무 수행 예정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3480" y="3108960"/>
            <a:ext cx="274320" cy="365760"/>
          </a:xfrm>
          <a:prstGeom prst="rightArrow">
            <a:avLst/>
          </a:prstGeom>
          <a:solidFill>
            <a:srgbClr val="4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2011680"/>
            <a:ext cx="2514600" cy="256032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20116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0116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4. 인프라 구축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017520"/>
            <a:ext cx="2240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전남 순천 '스페이스허브 발사체 제작센터'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6858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대한민국 우주 탐사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FB3FF"/>
                </a:solidFill>
                <a:latin typeface="맑은 고딕"/>
              </a:rPr>
              <a:t>2027년 6차 발사와 2032년 달 착륙선 도전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B8C4DE"/>
                </a:solidFill>
                <a:latin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017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2027년 하반기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45920"/>
            <a:ext cx="7909560" cy="96012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645920"/>
            <a:ext cx="7589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누리호 6차 발사 (초소형군집위성 네온샛 7~11호 탑재로 11기 완성)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3017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2032년까지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788920"/>
            <a:ext cx="7909560" cy="96012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788920"/>
            <a:ext cx="7589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매년 1회 이상 누리호 반복 발사로 신뢰성 극대화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017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차세대발사체(KSLV-III)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931920"/>
            <a:ext cx="7909560" cy="96012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3931920"/>
            <a:ext cx="7589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달 전이궤도 1.8톤 투입 능력 확보 (누리호의 18배) 및 2032년 달 착륙선 발사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7492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3017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우주항공청(KASA)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5074920"/>
            <a:ext cx="7909560" cy="960120"/>
          </a:xfrm>
          <a:prstGeom prst="roundRect">
            <a:avLst>
              <a:gd name="adj" fmla="val 8000"/>
            </a:avLst>
          </a:prstGeom>
          <a:solidFill>
            <a:srgbClr val="16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5074920"/>
            <a:ext cx="7589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2026년 예산 1조 1,100억 원 투입으로 위성·탐사 집중 지원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